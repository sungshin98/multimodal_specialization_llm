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08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1"/>
          <p:cNvSpPr/>
          <p:nvPr/>
        </p:nvSpPr>
        <p:spPr>
          <a:xfrm flipV="1">
            <a:off x="10621586" y="5580507"/>
            <a:ext cx="329565" cy="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64592" y="5870264"/>
            <a:ext cx="1371599" cy="109728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353304" y="5943416"/>
            <a:ext cx="996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222222"/>
                </a:solidFill>
                <a:latin typeface="Aptos"/>
              </a:rPr>
              <a:t>Query</a:t>
            </a:r>
            <a:endParaRPr lang="en-US" sz="1320" dirty="0"/>
          </a:p>
        </p:txBody>
      </p:sp>
      <p:sp>
        <p:nvSpPr>
          <p:cNvPr id="56" name="Text 54"/>
          <p:cNvSpPr/>
          <p:nvPr/>
        </p:nvSpPr>
        <p:spPr>
          <a:xfrm>
            <a:off x="268917" y="6199448"/>
            <a:ext cx="99669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2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09336" y="6510344"/>
            <a:ext cx="457200" cy="274320"/>
          </a:xfrm>
          <a:prstGeom prst="wedgeRoundRectCallou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64592" y="669589"/>
            <a:ext cx="1371600" cy="4709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256032" y="779317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22222"/>
                </a:solidFill>
                <a:latin typeface="Aptos"/>
              </a:rPr>
              <a:t>Multimodal</a:t>
            </a:r>
            <a:endParaRPr lang="en-US" sz="108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22222"/>
                </a:solidFill>
                <a:latin typeface="Aptos"/>
              </a:rPr>
              <a:t>Input</a:t>
            </a:r>
          </a:p>
        </p:txBody>
      </p:sp>
      <p:sp>
        <p:nvSpPr>
          <p:cNvPr id="60" name="Text 58"/>
          <p:cNvSpPr/>
          <p:nvPr/>
        </p:nvSpPr>
        <p:spPr>
          <a:xfrm>
            <a:off x="256032" y="989629"/>
            <a:ext cx="11887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56032" y="1382821"/>
            <a:ext cx="114300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780000" y="1638853"/>
            <a:ext cx="570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solidFill>
                  <a:srgbClr val="222222"/>
                </a:solidFill>
                <a:latin typeface="Aptos"/>
              </a:rPr>
              <a:t>Text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02336" y="1684573"/>
            <a:ext cx="26883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71465" y="1818990"/>
            <a:ext cx="130576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471465" y="1884278"/>
            <a:ext cx="130576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471465" y="1949566"/>
            <a:ext cx="130576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256032" y="2690413"/>
            <a:ext cx="114300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805400" y="2946445"/>
            <a:ext cx="570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solidFill>
                  <a:srgbClr val="222222"/>
                </a:solidFill>
                <a:latin typeface="Aptos"/>
              </a:rPr>
              <a:t>Image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67792" y="3019597"/>
            <a:ext cx="393192" cy="30669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27299" y="3066780"/>
            <a:ext cx="51115" cy="51115"/>
          </a:xfrm>
          <a:prstGeom prst="ellipse">
            <a:avLst/>
          </a:prstGeom>
          <a:solidFill>
            <a:srgbClr val="2C63A2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1" name="Shape 69"/>
          <p:cNvSpPr/>
          <p:nvPr/>
        </p:nvSpPr>
        <p:spPr>
          <a:xfrm>
            <a:off x="414975" y="3184738"/>
            <a:ext cx="133685" cy="86502"/>
          </a:xfrm>
          <a:prstGeom prst="triangle">
            <a:avLst/>
          </a:prstGeom>
          <a:solidFill>
            <a:srgbClr val="EAF3FF"/>
          </a:solidFill>
          <a:ln w="762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509341" y="3153282"/>
            <a:ext cx="149413" cy="117958"/>
          </a:xfrm>
          <a:prstGeom prst="triangle">
            <a:avLst/>
          </a:prstGeom>
          <a:solidFill>
            <a:srgbClr val="B7D6F4"/>
          </a:solidFill>
          <a:ln w="762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256032" y="4016293"/>
            <a:ext cx="114300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780000" y="4272325"/>
            <a:ext cx="5700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solidFill>
                  <a:srgbClr val="222222"/>
                </a:solidFill>
                <a:latin typeface="Aptos"/>
              </a:rPr>
              <a:t>Video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55092" y="4372909"/>
            <a:ext cx="402336" cy="281635"/>
          </a:xfrm>
          <a:prstGeom prst="rect">
            <a:avLst/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 rot="5400000">
            <a:off x="512003" y="4461423"/>
            <a:ext cx="80467" cy="80467"/>
          </a:xfrm>
          <a:prstGeom prst="triangle">
            <a:avLst/>
          </a:prstGeom>
          <a:solidFill>
            <a:srgbClr val="2C63A2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874520" y="640080"/>
            <a:ext cx="2057400" cy="4617720"/>
          </a:xfrm>
          <a:prstGeom prst="roundRect">
            <a:avLst>
              <a:gd name="adj" fmla="val 2667"/>
            </a:avLst>
          </a:prstGeom>
          <a:solidFill>
            <a:srgbClr val="EAF3FF"/>
          </a:solidFill>
          <a:ln w="15240">
            <a:solidFill>
              <a:srgbClr val="2C63A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1965960" y="75895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C63B6"/>
                </a:solidFill>
                <a:latin typeface="Aptos"/>
              </a:rPr>
              <a:t>Input Encoders</a:t>
            </a:r>
            <a:endParaRPr lang="en-US" sz="1320" dirty="0"/>
          </a:p>
        </p:txBody>
      </p:sp>
      <p:sp>
        <p:nvSpPr>
          <p:cNvPr id="79" name="Shape 77"/>
          <p:cNvSpPr/>
          <p:nvPr/>
        </p:nvSpPr>
        <p:spPr>
          <a:xfrm>
            <a:off x="2075688" y="1535985"/>
            <a:ext cx="165506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2185416" y="1691433"/>
            <a:ext cx="26883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2254545" y="1825850"/>
            <a:ext cx="130576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2254545" y="1891138"/>
            <a:ext cx="130576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2254545" y="1956426"/>
            <a:ext cx="130576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2578608" y="1645713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2222"/>
                </a:solidFill>
                <a:latin typeface="Aptos"/>
              </a:rPr>
              <a:t>Text Encoder</a:t>
            </a:r>
            <a:endParaRPr lang="en-US" sz="1080" dirty="0"/>
          </a:p>
        </p:txBody>
      </p:sp>
      <p:sp>
        <p:nvSpPr>
          <p:cNvPr id="85" name="Text 83"/>
          <p:cNvSpPr/>
          <p:nvPr/>
        </p:nvSpPr>
        <p:spPr>
          <a:xfrm>
            <a:off x="2624328" y="1929177"/>
            <a:ext cx="1014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2075688" y="2842261"/>
            <a:ext cx="165506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2185416" y="3015997"/>
            <a:ext cx="384048" cy="299557"/>
          </a:xfrm>
          <a:prstGeom prst="roundRect">
            <a:avLst>
              <a:gd name="adj" fmla="val 6105"/>
            </a:avLst>
          </a:prstGeom>
          <a:solidFill>
            <a:srgbClr val="FFFFFF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2438888" y="3062083"/>
            <a:ext cx="49926" cy="49926"/>
          </a:xfrm>
          <a:prstGeom prst="ellipse">
            <a:avLst/>
          </a:prstGeom>
          <a:solidFill>
            <a:srgbClr val="3F7C48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2231502" y="3177297"/>
            <a:ext cx="130576" cy="84491"/>
          </a:xfrm>
          <a:prstGeom prst="triangle">
            <a:avLst/>
          </a:prstGeom>
          <a:solidFill>
            <a:srgbClr val="EAF3FF"/>
          </a:solidFill>
          <a:ln w="762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2323673" y="3146573"/>
            <a:ext cx="145938" cy="115214"/>
          </a:xfrm>
          <a:prstGeom prst="triangle">
            <a:avLst/>
          </a:prstGeom>
          <a:solidFill>
            <a:srgbClr val="B7D6F4"/>
          </a:solidFill>
          <a:ln w="762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2578608" y="2951989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2222"/>
                </a:solidFill>
                <a:latin typeface="Aptos"/>
              </a:rPr>
              <a:t>Image Encoder</a:t>
            </a:r>
            <a:endParaRPr lang="en-US" sz="1080" dirty="0"/>
          </a:p>
        </p:txBody>
      </p:sp>
      <p:sp>
        <p:nvSpPr>
          <p:cNvPr id="92" name="Text 90"/>
          <p:cNvSpPr/>
          <p:nvPr/>
        </p:nvSpPr>
        <p:spPr>
          <a:xfrm>
            <a:off x="2624328" y="3235453"/>
            <a:ext cx="1014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2075688" y="4167183"/>
            <a:ext cx="1655064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92"/>
          <p:cNvSpPr/>
          <p:nvPr/>
        </p:nvSpPr>
        <p:spPr>
          <a:xfrm>
            <a:off x="2185416" y="4350063"/>
            <a:ext cx="393192" cy="275234"/>
          </a:xfrm>
          <a:prstGeom prst="rect">
            <a:avLst/>
          </a:prstGeom>
          <a:solidFill>
            <a:srgbClr val="FFFFFF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 rot="5400000">
            <a:off x="2338761" y="4436565"/>
            <a:ext cx="78638" cy="78638"/>
          </a:xfrm>
          <a:prstGeom prst="triangle">
            <a:avLst/>
          </a:prstGeom>
          <a:solidFill>
            <a:srgbClr val="D79A24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2578608" y="4276911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2222"/>
                </a:solidFill>
                <a:latin typeface="Aptos"/>
              </a:rPr>
              <a:t>Video Encoder</a:t>
            </a:r>
            <a:endParaRPr lang="en-US" sz="1080" dirty="0"/>
          </a:p>
        </p:txBody>
      </p:sp>
      <p:sp>
        <p:nvSpPr>
          <p:cNvPr id="97" name="Text 95"/>
          <p:cNvSpPr/>
          <p:nvPr/>
        </p:nvSpPr>
        <p:spPr>
          <a:xfrm>
            <a:off x="2624328" y="4560375"/>
            <a:ext cx="1014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2109770" y="5943600"/>
            <a:ext cx="1600200" cy="96012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2201210" y="6089904"/>
            <a:ext cx="14173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solidFill>
                  <a:srgbClr val="2C63B6"/>
                </a:solidFill>
                <a:latin typeface="Aptos"/>
              </a:rPr>
              <a:t>Question</a:t>
            </a:r>
            <a:endParaRPr lang="en-US" sz="120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2C63B6"/>
                </a:solidFill>
                <a:latin typeface="Aptos"/>
              </a:rPr>
              <a:t>Understanding</a:t>
            </a:r>
            <a:endParaRPr lang="en-US" sz="1600" b="1" i="0" dirty="0">
              <a:solidFill>
                <a:srgbClr val="2C63B6"/>
              </a:solidFill>
              <a:latin typeface="Apto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600" b="1" i="0" dirty="0">
                <a:solidFill>
                  <a:srgbClr val="2C63B6"/>
                </a:solidFill>
                <a:latin typeface="Aptos"/>
              </a:rPr>
              <a:t>Decoder</a:t>
            </a:r>
            <a:endParaRPr sz="1600" b="1" i="0" dirty="0">
              <a:solidFill>
                <a:srgbClr val="2C63B6"/>
              </a:solidFill>
              <a:latin typeface="Aptos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2201210" y="6519672"/>
            <a:ext cx="1417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08" name="Shape 106"/>
          <p:cNvSpPr/>
          <p:nvPr/>
        </p:nvSpPr>
        <p:spPr>
          <a:xfrm>
            <a:off x="4520059" y="5985164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AF3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7"/>
          <p:cNvSpPr/>
          <p:nvPr/>
        </p:nvSpPr>
        <p:spPr>
          <a:xfrm>
            <a:off x="4611499" y="608574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2C63B6"/>
                </a:solidFill>
                <a:latin typeface="Aptos"/>
              </a:rPr>
              <a:t>Question</a:t>
            </a:r>
            <a:endParaRPr lang="en-US" sz="118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63B6"/>
                </a:solidFill>
                <a:latin typeface="Aptos"/>
              </a:rPr>
              <a:t>Condition</a:t>
            </a:r>
          </a:p>
        </p:txBody>
      </p:sp>
      <p:sp>
        <p:nvSpPr>
          <p:cNvPr id="110" name="Text 108"/>
          <p:cNvSpPr/>
          <p:nvPr/>
        </p:nvSpPr>
        <p:spPr>
          <a:xfrm>
            <a:off x="4611499" y="6332636"/>
            <a:ext cx="15087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4629787" y="6606956"/>
            <a:ext cx="147218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870" dirty="0"/>
          </a:p>
        </p:txBody>
      </p:sp>
      <p:sp>
        <p:nvSpPr>
          <p:cNvPr id="112" name="Shape 110"/>
          <p:cNvSpPr/>
          <p:nvPr/>
        </p:nvSpPr>
        <p:spPr>
          <a:xfrm>
            <a:off x="4334996" y="669589"/>
            <a:ext cx="2057400" cy="777240"/>
          </a:xfrm>
          <a:prstGeom prst="roundRect">
            <a:avLst>
              <a:gd name="adj" fmla="val 7059"/>
            </a:avLst>
          </a:prstGeom>
          <a:solidFill>
            <a:srgbClr val="EAF7EC"/>
          </a:solidFill>
          <a:ln w="1397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5" name="Text 113"/>
          <p:cNvSpPr/>
          <p:nvPr/>
        </p:nvSpPr>
        <p:spPr>
          <a:xfrm>
            <a:off x="4563583" y="788461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dirty="0">
                <a:solidFill>
                  <a:srgbClr val="222222"/>
                </a:solidFill>
                <a:latin typeface="Aptos"/>
              </a:rPr>
              <a:t>Retrieval Gate</a:t>
            </a:r>
            <a:endParaRPr lang="en-US" sz="1230" dirty="0"/>
          </a:p>
        </p:txBody>
      </p:sp>
      <p:sp>
        <p:nvSpPr>
          <p:cNvPr id="116" name="Text 114"/>
          <p:cNvSpPr/>
          <p:nvPr/>
        </p:nvSpPr>
        <p:spPr>
          <a:xfrm>
            <a:off x="4746476" y="1081069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23" name="Shape 121"/>
          <p:cNvSpPr/>
          <p:nvPr/>
        </p:nvSpPr>
        <p:spPr>
          <a:xfrm>
            <a:off x="4198692" y="1609671"/>
            <a:ext cx="2331720" cy="1280160"/>
          </a:xfrm>
          <a:prstGeom prst="roundRect">
            <a:avLst>
              <a:gd name="adj" fmla="val 4286"/>
            </a:avLst>
          </a:prstGeom>
          <a:solidFill>
            <a:srgbClr val="EAF7EC"/>
          </a:solidFill>
          <a:ln w="12700">
            <a:solidFill>
              <a:srgbClr val="3F7C4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2"/>
          <p:cNvSpPr/>
          <p:nvPr/>
        </p:nvSpPr>
        <p:spPr>
          <a:xfrm>
            <a:off x="4290132" y="1719399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>
                <a:solidFill>
                  <a:srgbClr val="222222"/>
                </a:solidFill>
                <a:latin typeface="Aptos"/>
              </a:rPr>
              <a:t>External Retrieval</a:t>
            </a:r>
            <a:endParaRPr lang="en-US" sz="1400" dirty="0"/>
          </a:p>
        </p:txBody>
      </p:sp>
      <p:sp>
        <p:nvSpPr>
          <p:cNvPr id="125" name="Shape 123"/>
          <p:cNvSpPr/>
          <p:nvPr/>
        </p:nvSpPr>
        <p:spPr>
          <a:xfrm>
            <a:off x="4327564" y="2048583"/>
            <a:ext cx="620080" cy="649224"/>
          </a:xfrm>
          <a:prstGeom prst="can">
            <a:avLst/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26" name="Text 124"/>
          <p:cNvSpPr/>
          <p:nvPr/>
        </p:nvSpPr>
        <p:spPr>
          <a:xfrm>
            <a:off x="4250054" y="2139571"/>
            <a:ext cx="775100" cy="561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049940" y="2048583"/>
            <a:ext cx="620080" cy="649224"/>
          </a:xfrm>
          <a:prstGeom prst="can">
            <a:avLst/>
          </a:prstGeom>
          <a:solidFill>
            <a:srgbClr val="FFFFFF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28" name="Text 126"/>
          <p:cNvSpPr/>
          <p:nvPr/>
        </p:nvSpPr>
        <p:spPr>
          <a:xfrm>
            <a:off x="4972430" y="2120521"/>
            <a:ext cx="775100" cy="561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5772316" y="2048583"/>
            <a:ext cx="620080" cy="649224"/>
          </a:xfrm>
          <a:prstGeom prst="can">
            <a:avLst/>
          </a:prstGeom>
          <a:solidFill>
            <a:srgbClr val="FFFFFF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130" name="Text 128"/>
          <p:cNvSpPr/>
          <p:nvPr/>
        </p:nvSpPr>
        <p:spPr>
          <a:xfrm>
            <a:off x="5694806" y="2139571"/>
            <a:ext cx="775100" cy="56106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4244063" y="3220349"/>
            <a:ext cx="2240280" cy="914400"/>
          </a:xfrm>
          <a:prstGeom prst="roundRect">
            <a:avLst>
              <a:gd name="adj" fmla="val 6000"/>
            </a:avLst>
          </a:prstGeom>
          <a:solidFill>
            <a:srgbClr val="EAF7EC"/>
          </a:solidFill>
          <a:ln w="12700">
            <a:solidFill>
              <a:srgbClr val="3F7C4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30"/>
          <p:cNvSpPr/>
          <p:nvPr/>
        </p:nvSpPr>
        <p:spPr>
          <a:xfrm>
            <a:off x="4381223" y="3330077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50" b="1" i="0">
                <a:solidFill>
                  <a:srgbClr val="222222"/>
                </a:solidFill>
                <a:latin typeface="Aptos"/>
              </a:rPr>
              <a:t>Retrieved Evidence</a:t>
            </a:r>
            <a:endParaRPr lang="en-US" sz="1120" dirty="0"/>
          </a:p>
        </p:txBody>
      </p:sp>
      <p:sp>
        <p:nvSpPr>
          <p:cNvPr id="133" name="Text 131"/>
          <p:cNvSpPr/>
          <p:nvPr/>
        </p:nvSpPr>
        <p:spPr>
          <a:xfrm>
            <a:off x="4381223" y="3567821"/>
            <a:ext cx="1965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4" name="Shape 132"/>
          <p:cNvSpPr/>
          <p:nvPr/>
        </p:nvSpPr>
        <p:spPr>
          <a:xfrm>
            <a:off x="4798938" y="3878717"/>
            <a:ext cx="131064" cy="146304"/>
          </a:xfrm>
          <a:prstGeom prst="rect">
            <a:avLst/>
          </a:prstGeom>
          <a:solidFill>
            <a:srgbClr val="73A7D8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Shape 133"/>
          <p:cNvSpPr/>
          <p:nvPr/>
        </p:nvSpPr>
        <p:spPr>
          <a:xfrm>
            <a:off x="4946461" y="3878717"/>
            <a:ext cx="131064" cy="146304"/>
          </a:xfrm>
          <a:prstGeom prst="rect">
            <a:avLst/>
          </a:prstGeom>
          <a:solidFill>
            <a:srgbClr val="FFFFFF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Shape 134"/>
          <p:cNvSpPr/>
          <p:nvPr/>
        </p:nvSpPr>
        <p:spPr>
          <a:xfrm>
            <a:off x="5093984" y="3878717"/>
            <a:ext cx="131064" cy="146304"/>
          </a:xfrm>
          <a:prstGeom prst="rect">
            <a:avLst/>
          </a:prstGeom>
          <a:solidFill>
            <a:srgbClr val="E8C55A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135"/>
          <p:cNvSpPr/>
          <p:nvPr/>
        </p:nvSpPr>
        <p:spPr>
          <a:xfrm>
            <a:off x="5241508" y="3878717"/>
            <a:ext cx="131064" cy="146304"/>
          </a:xfrm>
          <a:prstGeom prst="rect">
            <a:avLst/>
          </a:prstGeom>
          <a:solidFill>
            <a:srgbClr val="FFFFFF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Shape 136"/>
          <p:cNvSpPr/>
          <p:nvPr/>
        </p:nvSpPr>
        <p:spPr>
          <a:xfrm>
            <a:off x="5389031" y="3878717"/>
            <a:ext cx="131064" cy="146304"/>
          </a:xfrm>
          <a:prstGeom prst="rect">
            <a:avLst/>
          </a:prstGeom>
          <a:solidFill>
            <a:srgbClr val="8FCB8E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137"/>
          <p:cNvSpPr/>
          <p:nvPr/>
        </p:nvSpPr>
        <p:spPr>
          <a:xfrm>
            <a:off x="5536554" y="3878717"/>
            <a:ext cx="131064" cy="146304"/>
          </a:xfrm>
          <a:prstGeom prst="rect">
            <a:avLst/>
          </a:prstGeom>
          <a:solidFill>
            <a:srgbClr val="FFFFFF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138"/>
          <p:cNvSpPr/>
          <p:nvPr/>
        </p:nvSpPr>
        <p:spPr>
          <a:xfrm>
            <a:off x="5695050" y="3851285"/>
            <a:ext cx="2011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4585807" y="4484214"/>
            <a:ext cx="1554480" cy="1188720"/>
          </a:xfrm>
          <a:prstGeom prst="roundRect">
            <a:avLst>
              <a:gd name="adj" fmla="val 4615"/>
            </a:avLst>
          </a:prstGeom>
          <a:solidFill>
            <a:srgbClr val="F4ECFB"/>
          </a:solidFill>
          <a:ln w="12700">
            <a:solidFill>
              <a:srgbClr val="71439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2" name="Text 170"/>
          <p:cNvSpPr/>
          <p:nvPr/>
        </p:nvSpPr>
        <p:spPr>
          <a:xfrm>
            <a:off x="4658959" y="4575654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7040A5"/>
                </a:solidFill>
                <a:latin typeface="Aptos"/>
              </a:rPr>
              <a:t>Modality</a:t>
            </a:r>
            <a:endParaRPr lang="en-US" sz="108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7040A5"/>
                </a:solidFill>
                <a:latin typeface="Aptos"/>
              </a:rPr>
              <a:t>Activation</a:t>
            </a:r>
          </a:p>
        </p:txBody>
      </p:sp>
      <p:sp>
        <p:nvSpPr>
          <p:cNvPr id="173" name="Text 171"/>
          <p:cNvSpPr/>
          <p:nvPr/>
        </p:nvSpPr>
        <p:spPr>
          <a:xfrm>
            <a:off x="4658959" y="4795110"/>
            <a:ext cx="140817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4" name="Text 172"/>
          <p:cNvSpPr/>
          <p:nvPr/>
        </p:nvSpPr>
        <p:spPr>
          <a:xfrm>
            <a:off x="4707287" y="5051142"/>
            <a:ext cx="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22222"/>
                </a:solidFill>
                <a:latin typeface="Aptos"/>
              </a:rPr>
              <a:t>Text</a:t>
            </a:r>
            <a:endParaRPr lang="en-US" sz="1600" dirty="0"/>
          </a:p>
        </p:txBody>
      </p:sp>
      <p:sp>
        <p:nvSpPr>
          <p:cNvPr id="175" name="Shape 173"/>
          <p:cNvSpPr/>
          <p:nvPr/>
        </p:nvSpPr>
        <p:spPr>
          <a:xfrm>
            <a:off x="5207599" y="5064858"/>
            <a:ext cx="128016" cy="12801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 174"/>
          <p:cNvSpPr/>
          <p:nvPr/>
        </p:nvSpPr>
        <p:spPr>
          <a:xfrm>
            <a:off x="5545927" y="5069430"/>
            <a:ext cx="101803" cy="118872"/>
          </a:xfrm>
          <a:prstGeom prst="rect">
            <a:avLst/>
          </a:prstGeom>
          <a:solidFill>
            <a:srgbClr val="73A7D8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 175"/>
          <p:cNvSpPr/>
          <p:nvPr/>
        </p:nvSpPr>
        <p:spPr>
          <a:xfrm>
            <a:off x="5664189" y="5069430"/>
            <a:ext cx="101803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 176"/>
          <p:cNvSpPr/>
          <p:nvPr/>
        </p:nvSpPr>
        <p:spPr>
          <a:xfrm>
            <a:off x="5782452" y="5069430"/>
            <a:ext cx="101803" cy="118872"/>
          </a:xfrm>
          <a:prstGeom prst="rect">
            <a:avLst/>
          </a:prstGeom>
          <a:solidFill>
            <a:srgbClr val="73A7D8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Text 177"/>
          <p:cNvSpPr/>
          <p:nvPr/>
        </p:nvSpPr>
        <p:spPr>
          <a:xfrm>
            <a:off x="4707287" y="5270598"/>
            <a:ext cx="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22222"/>
                </a:solidFill>
                <a:latin typeface="Aptos"/>
              </a:rPr>
              <a:t>Image</a:t>
            </a:r>
            <a:endParaRPr lang="en-US" sz="1600" dirty="0"/>
          </a:p>
        </p:txBody>
      </p:sp>
      <p:sp>
        <p:nvSpPr>
          <p:cNvPr id="180" name="Shape 178"/>
          <p:cNvSpPr/>
          <p:nvPr/>
        </p:nvSpPr>
        <p:spPr>
          <a:xfrm>
            <a:off x="5207599" y="528431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 179"/>
          <p:cNvSpPr/>
          <p:nvPr/>
        </p:nvSpPr>
        <p:spPr>
          <a:xfrm>
            <a:off x="5545927" y="5288886"/>
            <a:ext cx="101803" cy="118872"/>
          </a:xfrm>
          <a:prstGeom prst="rect">
            <a:avLst/>
          </a:prstGeom>
          <a:solidFill>
            <a:srgbClr val="8FCB8E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 180"/>
          <p:cNvSpPr/>
          <p:nvPr/>
        </p:nvSpPr>
        <p:spPr>
          <a:xfrm>
            <a:off x="5664189" y="5288886"/>
            <a:ext cx="101803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 181"/>
          <p:cNvSpPr/>
          <p:nvPr/>
        </p:nvSpPr>
        <p:spPr>
          <a:xfrm>
            <a:off x="5782452" y="5288886"/>
            <a:ext cx="101803" cy="118872"/>
          </a:xfrm>
          <a:prstGeom prst="rect">
            <a:avLst/>
          </a:prstGeom>
          <a:solidFill>
            <a:srgbClr val="8FCB8E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Text 182"/>
          <p:cNvSpPr/>
          <p:nvPr/>
        </p:nvSpPr>
        <p:spPr>
          <a:xfrm>
            <a:off x="4707287" y="5490054"/>
            <a:ext cx="430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222222"/>
                </a:solidFill>
                <a:latin typeface="Aptos"/>
              </a:rPr>
              <a:t>Video</a:t>
            </a:r>
            <a:endParaRPr lang="en-US" sz="1600" dirty="0"/>
          </a:p>
        </p:txBody>
      </p:sp>
      <p:sp>
        <p:nvSpPr>
          <p:cNvPr id="185" name="Shape 183"/>
          <p:cNvSpPr/>
          <p:nvPr/>
        </p:nvSpPr>
        <p:spPr>
          <a:xfrm>
            <a:off x="5207599" y="5503770"/>
            <a:ext cx="128016" cy="128016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 184"/>
          <p:cNvSpPr/>
          <p:nvPr/>
        </p:nvSpPr>
        <p:spPr>
          <a:xfrm>
            <a:off x="5545927" y="5508342"/>
            <a:ext cx="101803" cy="118872"/>
          </a:xfrm>
          <a:prstGeom prst="rect">
            <a:avLst/>
          </a:prstGeom>
          <a:solidFill>
            <a:srgbClr val="E8C55A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 185"/>
          <p:cNvSpPr/>
          <p:nvPr/>
        </p:nvSpPr>
        <p:spPr>
          <a:xfrm>
            <a:off x="5664189" y="5508342"/>
            <a:ext cx="101803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 186"/>
          <p:cNvSpPr/>
          <p:nvPr/>
        </p:nvSpPr>
        <p:spPr>
          <a:xfrm>
            <a:off x="5782452" y="5508342"/>
            <a:ext cx="101803" cy="118872"/>
          </a:xfrm>
          <a:prstGeom prst="rect">
            <a:avLst/>
          </a:prstGeom>
          <a:solidFill>
            <a:srgbClr val="E8C55A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 187"/>
          <p:cNvSpPr/>
          <p:nvPr/>
        </p:nvSpPr>
        <p:spPr>
          <a:xfrm>
            <a:off x="6796486" y="3378078"/>
            <a:ext cx="2240280" cy="2327623"/>
          </a:xfrm>
          <a:prstGeom prst="roundRect">
            <a:avLst>
              <a:gd name="adj" fmla="val 2667"/>
            </a:avLst>
          </a:prstGeom>
          <a:solidFill>
            <a:srgbClr val="F4ECFB"/>
          </a:solidFill>
          <a:ln w="13970">
            <a:solidFill>
              <a:srgbClr val="71439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Text 188"/>
          <p:cNvSpPr/>
          <p:nvPr/>
        </p:nvSpPr>
        <p:spPr>
          <a:xfrm>
            <a:off x="6906214" y="3469519"/>
            <a:ext cx="2020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7040A5"/>
                </a:solidFill>
                <a:latin typeface="Aptos"/>
              </a:rPr>
              <a:t>Analysis Decoders</a:t>
            </a:r>
            <a:endParaRPr lang="en-US" sz="1150" dirty="0"/>
          </a:p>
        </p:txBody>
      </p:sp>
      <p:sp>
        <p:nvSpPr>
          <p:cNvPr id="192" name="Shape 190"/>
          <p:cNvSpPr/>
          <p:nvPr/>
        </p:nvSpPr>
        <p:spPr>
          <a:xfrm>
            <a:off x="6997654" y="3972439"/>
            <a:ext cx="1837944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 191"/>
          <p:cNvSpPr/>
          <p:nvPr/>
        </p:nvSpPr>
        <p:spPr>
          <a:xfrm>
            <a:off x="7108906" y="4054735"/>
            <a:ext cx="22402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 192"/>
          <p:cNvSpPr/>
          <p:nvPr/>
        </p:nvSpPr>
        <p:spPr>
          <a:xfrm>
            <a:off x="7166513" y="4166749"/>
            <a:ext cx="108814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 193"/>
          <p:cNvSpPr/>
          <p:nvPr/>
        </p:nvSpPr>
        <p:spPr>
          <a:xfrm>
            <a:off x="7166513" y="4221156"/>
            <a:ext cx="108814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 194"/>
          <p:cNvSpPr/>
          <p:nvPr/>
        </p:nvSpPr>
        <p:spPr>
          <a:xfrm>
            <a:off x="7166513" y="4275563"/>
            <a:ext cx="108814" cy="91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Text 195"/>
          <p:cNvSpPr/>
          <p:nvPr/>
        </p:nvSpPr>
        <p:spPr>
          <a:xfrm>
            <a:off x="7436566" y="4045591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2222"/>
                </a:solidFill>
                <a:latin typeface="Aptos"/>
              </a:rPr>
              <a:t>Text Decoder</a:t>
            </a:r>
            <a:endParaRPr lang="en-US" sz="1020" dirty="0"/>
          </a:p>
        </p:txBody>
      </p:sp>
      <p:sp>
        <p:nvSpPr>
          <p:cNvPr id="198" name="Text 196"/>
          <p:cNvSpPr/>
          <p:nvPr/>
        </p:nvSpPr>
        <p:spPr>
          <a:xfrm>
            <a:off x="7473142" y="4265047"/>
            <a:ext cx="1307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220" dirty="0"/>
          </a:p>
        </p:txBody>
      </p:sp>
      <p:sp>
        <p:nvSpPr>
          <p:cNvPr id="199" name="Shape 197"/>
          <p:cNvSpPr/>
          <p:nvPr/>
        </p:nvSpPr>
        <p:spPr>
          <a:xfrm>
            <a:off x="6997654" y="4511935"/>
            <a:ext cx="1837944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Shape 198"/>
          <p:cNvSpPr/>
          <p:nvPr/>
        </p:nvSpPr>
        <p:spPr>
          <a:xfrm>
            <a:off x="7070806" y="4612519"/>
            <a:ext cx="320040" cy="249631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1" name="Shape 199"/>
          <p:cNvSpPr/>
          <p:nvPr/>
        </p:nvSpPr>
        <p:spPr>
          <a:xfrm>
            <a:off x="7282032" y="4650924"/>
            <a:ext cx="41605" cy="41605"/>
          </a:xfrm>
          <a:prstGeom prst="ellipse">
            <a:avLst/>
          </a:prstGeom>
          <a:solidFill>
            <a:srgbClr val="3F7C48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 200"/>
          <p:cNvSpPr/>
          <p:nvPr/>
        </p:nvSpPr>
        <p:spPr>
          <a:xfrm>
            <a:off x="7109211" y="4746936"/>
            <a:ext cx="108814" cy="70409"/>
          </a:xfrm>
          <a:prstGeom prst="triangle">
            <a:avLst/>
          </a:prstGeom>
          <a:solidFill>
            <a:srgbClr val="EAF3FF"/>
          </a:solidFill>
          <a:ln w="762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 201"/>
          <p:cNvSpPr/>
          <p:nvPr/>
        </p:nvSpPr>
        <p:spPr>
          <a:xfrm>
            <a:off x="7186020" y="4721333"/>
            <a:ext cx="121615" cy="96012"/>
          </a:xfrm>
          <a:prstGeom prst="triangle">
            <a:avLst/>
          </a:prstGeom>
          <a:solidFill>
            <a:srgbClr val="B7D6F4"/>
          </a:solidFill>
          <a:ln w="762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 202"/>
          <p:cNvSpPr/>
          <p:nvPr/>
        </p:nvSpPr>
        <p:spPr>
          <a:xfrm>
            <a:off x="7436566" y="4585087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2222"/>
                </a:solidFill>
                <a:latin typeface="Aptos"/>
              </a:rPr>
              <a:t>Image Decoder</a:t>
            </a:r>
            <a:endParaRPr lang="en-US" sz="1020" dirty="0"/>
          </a:p>
        </p:txBody>
      </p:sp>
      <p:sp>
        <p:nvSpPr>
          <p:cNvPr id="205" name="Text 203"/>
          <p:cNvSpPr/>
          <p:nvPr/>
        </p:nvSpPr>
        <p:spPr>
          <a:xfrm>
            <a:off x="7473142" y="4804543"/>
            <a:ext cx="1307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220" dirty="0"/>
          </a:p>
        </p:txBody>
      </p:sp>
      <p:sp>
        <p:nvSpPr>
          <p:cNvPr id="206" name="Shape 204"/>
          <p:cNvSpPr/>
          <p:nvPr/>
        </p:nvSpPr>
        <p:spPr>
          <a:xfrm>
            <a:off x="6997654" y="5042287"/>
            <a:ext cx="1837944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 205"/>
          <p:cNvSpPr/>
          <p:nvPr/>
        </p:nvSpPr>
        <p:spPr>
          <a:xfrm>
            <a:off x="7070806" y="5152015"/>
            <a:ext cx="329184" cy="230429"/>
          </a:xfrm>
          <a:prstGeom prst="rect">
            <a:avLst/>
          </a:prstGeom>
          <a:solidFill>
            <a:srgbClr val="FFFFFF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 206"/>
          <p:cNvSpPr/>
          <p:nvPr/>
        </p:nvSpPr>
        <p:spPr>
          <a:xfrm rot="5400000">
            <a:off x="7186020" y="5215368"/>
            <a:ext cx="110460" cy="110460"/>
          </a:xfrm>
          <a:prstGeom prst="triangle">
            <a:avLst/>
          </a:prstGeom>
          <a:solidFill>
            <a:srgbClr val="D79A24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9" name="Text 207"/>
          <p:cNvSpPr/>
          <p:nvPr/>
        </p:nvSpPr>
        <p:spPr>
          <a:xfrm>
            <a:off x="7436566" y="5115439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2222"/>
                </a:solidFill>
                <a:latin typeface="Aptos"/>
              </a:rPr>
              <a:t>Video Decoder</a:t>
            </a:r>
            <a:endParaRPr lang="en-US" sz="1020" dirty="0"/>
          </a:p>
        </p:txBody>
      </p:sp>
      <p:sp>
        <p:nvSpPr>
          <p:cNvPr id="210" name="Text 208"/>
          <p:cNvSpPr/>
          <p:nvPr/>
        </p:nvSpPr>
        <p:spPr>
          <a:xfrm>
            <a:off x="7473142" y="5334895"/>
            <a:ext cx="1307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220" dirty="0"/>
          </a:p>
        </p:txBody>
      </p:sp>
      <p:sp>
        <p:nvSpPr>
          <p:cNvPr id="211" name="Shape 209"/>
          <p:cNvSpPr/>
          <p:nvPr/>
        </p:nvSpPr>
        <p:spPr>
          <a:xfrm>
            <a:off x="9234442" y="3396078"/>
            <a:ext cx="1325880" cy="1600200"/>
          </a:xfrm>
          <a:prstGeom prst="roundRect">
            <a:avLst>
              <a:gd name="adj" fmla="val 4138"/>
            </a:avLst>
          </a:prstGeom>
          <a:solidFill>
            <a:srgbClr val="F4ECFB"/>
          </a:solidFill>
          <a:ln w="12700">
            <a:solidFill>
              <a:srgbClr val="71439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2" name="Text 210"/>
          <p:cNvSpPr/>
          <p:nvPr/>
        </p:nvSpPr>
        <p:spPr>
          <a:xfrm>
            <a:off x="9307594" y="350580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7040A5"/>
                </a:solidFill>
                <a:latin typeface="Aptos"/>
              </a:rPr>
              <a:t>Analysis</a:t>
            </a:r>
            <a:endParaRPr lang="en-US" sz="108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40A5"/>
                </a:solidFill>
                <a:latin typeface="Aptos"/>
              </a:rPr>
              <a:t>Results</a:t>
            </a:r>
          </a:p>
        </p:txBody>
      </p:sp>
      <p:sp>
        <p:nvSpPr>
          <p:cNvPr id="213" name="Text 211"/>
          <p:cNvSpPr/>
          <p:nvPr/>
        </p:nvSpPr>
        <p:spPr>
          <a:xfrm>
            <a:off x="9325882" y="3752694"/>
            <a:ext cx="11430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15" name="Shape 213"/>
          <p:cNvSpPr/>
          <p:nvPr/>
        </p:nvSpPr>
        <p:spPr>
          <a:xfrm>
            <a:off x="9801370" y="4127598"/>
            <a:ext cx="95098" cy="118872"/>
          </a:xfrm>
          <a:prstGeom prst="rect">
            <a:avLst/>
          </a:prstGeom>
          <a:solidFill>
            <a:srgbClr val="73A7D8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 214"/>
          <p:cNvSpPr/>
          <p:nvPr/>
        </p:nvSpPr>
        <p:spPr>
          <a:xfrm>
            <a:off x="9912927" y="4127598"/>
            <a:ext cx="95098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 215"/>
          <p:cNvSpPr/>
          <p:nvPr/>
        </p:nvSpPr>
        <p:spPr>
          <a:xfrm>
            <a:off x="10024484" y="4127598"/>
            <a:ext cx="95098" cy="118872"/>
          </a:xfrm>
          <a:prstGeom prst="rect">
            <a:avLst/>
          </a:prstGeom>
          <a:solidFill>
            <a:srgbClr val="73A7D8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 216"/>
          <p:cNvSpPr/>
          <p:nvPr/>
        </p:nvSpPr>
        <p:spPr>
          <a:xfrm>
            <a:off x="10136040" y="4127598"/>
            <a:ext cx="95098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73A7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Text 217"/>
          <p:cNvSpPr/>
          <p:nvPr/>
        </p:nvSpPr>
        <p:spPr>
          <a:xfrm>
            <a:off x="10258570" y="4100166"/>
            <a:ext cx="201168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9801370" y="4401918"/>
            <a:ext cx="95098" cy="118872"/>
          </a:xfrm>
          <a:prstGeom prst="rect">
            <a:avLst/>
          </a:prstGeom>
          <a:solidFill>
            <a:srgbClr val="8FCB8E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 220"/>
          <p:cNvSpPr/>
          <p:nvPr/>
        </p:nvSpPr>
        <p:spPr>
          <a:xfrm>
            <a:off x="9912927" y="4401918"/>
            <a:ext cx="95098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 221"/>
          <p:cNvSpPr/>
          <p:nvPr/>
        </p:nvSpPr>
        <p:spPr>
          <a:xfrm>
            <a:off x="10024484" y="4401918"/>
            <a:ext cx="95098" cy="118872"/>
          </a:xfrm>
          <a:prstGeom prst="rect">
            <a:avLst/>
          </a:prstGeom>
          <a:solidFill>
            <a:srgbClr val="8FCB8E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4" name="Shape 222"/>
          <p:cNvSpPr/>
          <p:nvPr/>
        </p:nvSpPr>
        <p:spPr>
          <a:xfrm>
            <a:off x="10136040" y="4401918"/>
            <a:ext cx="95098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8FCB8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5" name="Text 223"/>
          <p:cNvSpPr/>
          <p:nvPr/>
        </p:nvSpPr>
        <p:spPr>
          <a:xfrm>
            <a:off x="10258570" y="4374486"/>
            <a:ext cx="201168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9801370" y="4676238"/>
            <a:ext cx="95098" cy="118872"/>
          </a:xfrm>
          <a:prstGeom prst="rect">
            <a:avLst/>
          </a:prstGeom>
          <a:solidFill>
            <a:srgbClr val="E8C55A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8" name="Shape 226"/>
          <p:cNvSpPr/>
          <p:nvPr/>
        </p:nvSpPr>
        <p:spPr>
          <a:xfrm>
            <a:off x="9912927" y="4676238"/>
            <a:ext cx="95098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9" name="Shape 227"/>
          <p:cNvSpPr/>
          <p:nvPr/>
        </p:nvSpPr>
        <p:spPr>
          <a:xfrm>
            <a:off x="10024484" y="4676238"/>
            <a:ext cx="95098" cy="118872"/>
          </a:xfrm>
          <a:prstGeom prst="rect">
            <a:avLst/>
          </a:prstGeom>
          <a:solidFill>
            <a:srgbClr val="E8C55A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0" name="Shape 228"/>
          <p:cNvSpPr/>
          <p:nvPr/>
        </p:nvSpPr>
        <p:spPr>
          <a:xfrm>
            <a:off x="10136040" y="4676238"/>
            <a:ext cx="95098" cy="118872"/>
          </a:xfrm>
          <a:prstGeom prst="rect">
            <a:avLst/>
          </a:prstGeom>
          <a:solidFill>
            <a:srgbClr val="FFFFFF"/>
          </a:solidFill>
          <a:ln w="6985">
            <a:solidFill>
              <a:srgbClr val="E8C5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1" name="Text 229"/>
          <p:cNvSpPr/>
          <p:nvPr/>
        </p:nvSpPr>
        <p:spPr>
          <a:xfrm>
            <a:off x="10258570" y="4648806"/>
            <a:ext cx="201168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800" dirty="0"/>
          </a:p>
        </p:txBody>
      </p:sp>
      <p:sp>
        <p:nvSpPr>
          <p:cNvPr id="235" name="Shape 233"/>
          <p:cNvSpPr/>
          <p:nvPr/>
        </p:nvSpPr>
        <p:spPr>
          <a:xfrm>
            <a:off x="9191567" y="5159883"/>
            <a:ext cx="1417320" cy="841248"/>
          </a:xfrm>
          <a:prstGeom prst="roundRect">
            <a:avLst>
              <a:gd name="adj" fmla="val 6522"/>
            </a:avLst>
          </a:prstGeom>
          <a:solidFill>
            <a:srgbClr val="FFF0F0"/>
          </a:solidFill>
          <a:ln w="12700">
            <a:solidFill>
              <a:srgbClr val="C95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6" name="Text 234"/>
          <p:cNvSpPr/>
          <p:nvPr/>
        </p:nvSpPr>
        <p:spPr>
          <a:xfrm>
            <a:off x="9264719" y="5306187"/>
            <a:ext cx="1271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D34E4E"/>
                </a:solidFill>
                <a:latin typeface="Aptos"/>
              </a:rPr>
              <a:t>Final</a:t>
            </a:r>
            <a:endParaRPr lang="en-US" sz="1150" dirty="0"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34E4E"/>
                </a:solidFill>
                <a:latin typeface="Aptos"/>
              </a:rPr>
              <a:t>Decoder</a:t>
            </a:r>
          </a:p>
        </p:txBody>
      </p:sp>
      <p:sp>
        <p:nvSpPr>
          <p:cNvPr id="237" name="Text 235"/>
          <p:cNvSpPr/>
          <p:nvPr/>
        </p:nvSpPr>
        <p:spPr>
          <a:xfrm>
            <a:off x="9283007" y="5589651"/>
            <a:ext cx="12344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38" name="Shape 236"/>
          <p:cNvSpPr/>
          <p:nvPr/>
        </p:nvSpPr>
        <p:spPr>
          <a:xfrm>
            <a:off x="10951152" y="5106543"/>
            <a:ext cx="1097280" cy="1005840"/>
          </a:xfrm>
          <a:prstGeom prst="roundRect">
            <a:avLst>
              <a:gd name="adj" fmla="val 5455"/>
            </a:avLst>
          </a:prstGeom>
          <a:solidFill>
            <a:srgbClr val="FFF0F0"/>
          </a:solidFill>
          <a:ln w="12700">
            <a:solidFill>
              <a:srgbClr val="C95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9" name="Text 237"/>
          <p:cNvSpPr/>
          <p:nvPr/>
        </p:nvSpPr>
        <p:spPr>
          <a:xfrm>
            <a:off x="11024304" y="5216271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D34E4E"/>
                </a:solidFill>
                <a:latin typeface="Aptos"/>
              </a:rPr>
              <a:t>Answer</a:t>
            </a:r>
            <a:endParaRPr lang="en-US" sz="1200" dirty="0"/>
          </a:p>
        </p:txBody>
      </p:sp>
      <p:sp>
        <p:nvSpPr>
          <p:cNvPr id="240" name="Text 238"/>
          <p:cNvSpPr/>
          <p:nvPr/>
        </p:nvSpPr>
        <p:spPr>
          <a:xfrm>
            <a:off x="11060880" y="5508879"/>
            <a:ext cx="87782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1" name="Shape 239"/>
          <p:cNvSpPr/>
          <p:nvPr/>
        </p:nvSpPr>
        <p:spPr>
          <a:xfrm>
            <a:off x="11298624" y="5819775"/>
            <a:ext cx="384048" cy="228600"/>
          </a:xfrm>
          <a:prstGeom prst="wedgeRoundRectCallou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02A22FD5-B3DE-DCBC-E313-19EF651EB781}"/>
              </a:ext>
            </a:extLst>
          </p:cNvPr>
          <p:cNvCxnSpPr>
            <a:stCxn id="54" idx="3"/>
            <a:endCxn id="105" idx="1"/>
          </p:cNvCxnSpPr>
          <p:nvPr/>
        </p:nvCxnSpPr>
        <p:spPr>
          <a:xfrm>
            <a:off x="1536191" y="6418904"/>
            <a:ext cx="573579" cy="47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BB7FE19A-9656-818B-14AB-2291D5735F8F}"/>
              </a:ext>
            </a:extLst>
          </p:cNvPr>
          <p:cNvCxnSpPr>
            <a:cxnSpLocks/>
            <a:stCxn id="105" idx="3"/>
            <a:endCxn id="108" idx="1"/>
          </p:cNvCxnSpPr>
          <p:nvPr/>
        </p:nvCxnSpPr>
        <p:spPr>
          <a:xfrm flipV="1">
            <a:off x="3709970" y="6419504"/>
            <a:ext cx="810089" cy="4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Shape 191">
            <a:extLst>
              <a:ext uri="{FF2B5EF4-FFF2-40B4-BE49-F238E27FC236}">
                <a16:creationId xmlns:a16="http://schemas.microsoft.com/office/drawing/2014/main" id="{8C00EF58-F492-3196-E874-DE0D8BF1B958}"/>
              </a:ext>
            </a:extLst>
          </p:cNvPr>
          <p:cNvSpPr/>
          <p:nvPr/>
        </p:nvSpPr>
        <p:spPr>
          <a:xfrm>
            <a:off x="9390896" y="4063718"/>
            <a:ext cx="164410" cy="239328"/>
          </a:xfrm>
          <a:prstGeom prst="rect">
            <a:avLst/>
          </a:prstGeom>
          <a:solidFill>
            <a:srgbClr val="FFFFFF"/>
          </a:solidFill>
          <a:ln w="1270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2" name="Shape 192">
            <a:extLst>
              <a:ext uri="{FF2B5EF4-FFF2-40B4-BE49-F238E27FC236}">
                <a16:creationId xmlns:a16="http://schemas.microsoft.com/office/drawing/2014/main" id="{2E2CC42C-14F9-7BBF-948E-C72FF157CB61}"/>
              </a:ext>
            </a:extLst>
          </p:cNvPr>
          <p:cNvSpPr/>
          <p:nvPr/>
        </p:nvSpPr>
        <p:spPr>
          <a:xfrm>
            <a:off x="9433173" y="4135491"/>
            <a:ext cx="79856" cy="68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4" name="Shape 193">
            <a:extLst>
              <a:ext uri="{FF2B5EF4-FFF2-40B4-BE49-F238E27FC236}">
                <a16:creationId xmlns:a16="http://schemas.microsoft.com/office/drawing/2014/main" id="{AAC80DF3-E4A8-5CD7-D333-0B4C7AF97A73}"/>
              </a:ext>
            </a:extLst>
          </p:cNvPr>
          <p:cNvSpPr/>
          <p:nvPr/>
        </p:nvSpPr>
        <p:spPr>
          <a:xfrm>
            <a:off x="9433173" y="4189898"/>
            <a:ext cx="79856" cy="68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6" name="Shape 194">
            <a:extLst>
              <a:ext uri="{FF2B5EF4-FFF2-40B4-BE49-F238E27FC236}">
                <a16:creationId xmlns:a16="http://schemas.microsoft.com/office/drawing/2014/main" id="{7C070B50-2DDB-37EC-11E6-62026748FBC6}"/>
              </a:ext>
            </a:extLst>
          </p:cNvPr>
          <p:cNvSpPr/>
          <p:nvPr/>
        </p:nvSpPr>
        <p:spPr>
          <a:xfrm>
            <a:off x="9433173" y="4244305"/>
            <a:ext cx="79856" cy="684"/>
          </a:xfrm>
          <a:prstGeom prst="line">
            <a:avLst/>
          </a:prstGeom>
          <a:solidFill>
            <a:srgbClr val="FFFFFF">
              <a:alpha val="0"/>
            </a:srgbClr>
          </a:solidFill>
          <a:ln w="10160">
            <a:solidFill>
              <a:srgbClr val="2C63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8" name="Shape 198">
            <a:extLst>
              <a:ext uri="{FF2B5EF4-FFF2-40B4-BE49-F238E27FC236}">
                <a16:creationId xmlns:a16="http://schemas.microsoft.com/office/drawing/2014/main" id="{C096B144-9FF8-6BBF-FA0E-BE98A59850A6}"/>
              </a:ext>
            </a:extLst>
          </p:cNvPr>
          <p:cNvSpPr/>
          <p:nvPr/>
        </p:nvSpPr>
        <p:spPr>
          <a:xfrm>
            <a:off x="9364287" y="4352310"/>
            <a:ext cx="243230" cy="189720"/>
          </a:xfrm>
          <a:prstGeom prst="roundRect">
            <a:avLst>
              <a:gd name="adj" fmla="val 7326"/>
            </a:avLst>
          </a:prstGeom>
          <a:solidFill>
            <a:srgbClr val="FFFFFF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0" name="Shape 199">
            <a:extLst>
              <a:ext uri="{FF2B5EF4-FFF2-40B4-BE49-F238E27FC236}">
                <a16:creationId xmlns:a16="http://schemas.microsoft.com/office/drawing/2014/main" id="{968CD399-0A9E-3257-036D-AC40C19AECA6}"/>
              </a:ext>
            </a:extLst>
          </p:cNvPr>
          <p:cNvSpPr/>
          <p:nvPr/>
        </p:nvSpPr>
        <p:spPr>
          <a:xfrm>
            <a:off x="9530288" y="4377753"/>
            <a:ext cx="45720" cy="45722"/>
          </a:xfrm>
          <a:prstGeom prst="ellipse">
            <a:avLst/>
          </a:prstGeom>
          <a:solidFill>
            <a:srgbClr val="3F7C48"/>
          </a:solidFill>
          <a:ln w="1270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2" name="Shape 200">
            <a:extLst>
              <a:ext uri="{FF2B5EF4-FFF2-40B4-BE49-F238E27FC236}">
                <a16:creationId xmlns:a16="http://schemas.microsoft.com/office/drawing/2014/main" id="{43A9BFCB-790E-B735-0F4F-720868348B98}"/>
              </a:ext>
            </a:extLst>
          </p:cNvPr>
          <p:cNvSpPr/>
          <p:nvPr/>
        </p:nvSpPr>
        <p:spPr>
          <a:xfrm>
            <a:off x="9391634" y="4465220"/>
            <a:ext cx="82698" cy="53512"/>
          </a:xfrm>
          <a:prstGeom prst="triangle">
            <a:avLst/>
          </a:prstGeom>
          <a:solidFill>
            <a:srgbClr val="EAF3FF"/>
          </a:solidFill>
          <a:ln w="762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4" name="Shape 201">
            <a:extLst>
              <a:ext uri="{FF2B5EF4-FFF2-40B4-BE49-F238E27FC236}">
                <a16:creationId xmlns:a16="http://schemas.microsoft.com/office/drawing/2014/main" id="{4280F3AE-7837-6E42-3179-C7D68D36364A}"/>
              </a:ext>
            </a:extLst>
          </p:cNvPr>
          <p:cNvSpPr/>
          <p:nvPr/>
        </p:nvSpPr>
        <p:spPr>
          <a:xfrm>
            <a:off x="9469980" y="4442690"/>
            <a:ext cx="92426" cy="72968"/>
          </a:xfrm>
          <a:prstGeom prst="triangle">
            <a:avLst/>
          </a:prstGeom>
          <a:solidFill>
            <a:srgbClr val="B7D6F4"/>
          </a:solidFill>
          <a:ln w="7620">
            <a:solidFill>
              <a:srgbClr val="3F7C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6" name="Shape 205">
            <a:extLst>
              <a:ext uri="{FF2B5EF4-FFF2-40B4-BE49-F238E27FC236}">
                <a16:creationId xmlns:a16="http://schemas.microsoft.com/office/drawing/2014/main" id="{BD569F0C-F00A-70E8-B7B5-8A13CEB54A89}"/>
              </a:ext>
            </a:extLst>
          </p:cNvPr>
          <p:cNvSpPr/>
          <p:nvPr/>
        </p:nvSpPr>
        <p:spPr>
          <a:xfrm>
            <a:off x="9373431" y="4629409"/>
            <a:ext cx="234086" cy="178518"/>
          </a:xfrm>
          <a:prstGeom prst="rect">
            <a:avLst/>
          </a:prstGeom>
          <a:solidFill>
            <a:srgbClr val="FFFFFF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8" name="Shape 206">
            <a:extLst>
              <a:ext uri="{FF2B5EF4-FFF2-40B4-BE49-F238E27FC236}">
                <a16:creationId xmlns:a16="http://schemas.microsoft.com/office/drawing/2014/main" id="{9599B494-00FB-479E-6AD7-AFF620A7F741}"/>
              </a:ext>
            </a:extLst>
          </p:cNvPr>
          <p:cNvSpPr/>
          <p:nvPr/>
        </p:nvSpPr>
        <p:spPr>
          <a:xfrm rot="5400000">
            <a:off x="9471206" y="4694910"/>
            <a:ext cx="51004" cy="46816"/>
          </a:xfrm>
          <a:prstGeom prst="triangle">
            <a:avLst/>
          </a:prstGeom>
          <a:solidFill>
            <a:srgbClr val="D79A24"/>
          </a:solidFill>
          <a:ln w="12700">
            <a:solidFill>
              <a:srgbClr val="D79A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05" name="직선 화살표 연결선 304">
            <a:extLst>
              <a:ext uri="{FF2B5EF4-FFF2-40B4-BE49-F238E27FC236}">
                <a16:creationId xmlns:a16="http://schemas.microsoft.com/office/drawing/2014/main" id="{57F49079-30CC-ADF8-2D19-CDCAAC364DAE}"/>
              </a:ext>
            </a:extLst>
          </p:cNvPr>
          <p:cNvCxnSpPr>
            <a:cxnSpLocks/>
            <a:stCxn id="61" idx="3"/>
            <a:endCxn id="79" idx="1"/>
          </p:cNvCxnSpPr>
          <p:nvPr/>
        </p:nvCxnSpPr>
        <p:spPr>
          <a:xfrm>
            <a:off x="1399032" y="1899457"/>
            <a:ext cx="676656" cy="2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화살표 연결선 306">
            <a:extLst>
              <a:ext uri="{FF2B5EF4-FFF2-40B4-BE49-F238E27FC236}">
                <a16:creationId xmlns:a16="http://schemas.microsoft.com/office/drawing/2014/main" id="{78AF7FF6-35F7-0E88-3F5E-73E61D7A2211}"/>
              </a:ext>
            </a:extLst>
          </p:cNvPr>
          <p:cNvCxnSpPr>
            <a:cxnSpLocks/>
            <a:stCxn id="67" idx="3"/>
            <a:endCxn id="86" idx="1"/>
          </p:cNvCxnSpPr>
          <p:nvPr/>
        </p:nvCxnSpPr>
        <p:spPr>
          <a:xfrm>
            <a:off x="1399032" y="3207049"/>
            <a:ext cx="676656" cy="9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직선 화살표 연결선 307">
            <a:extLst>
              <a:ext uri="{FF2B5EF4-FFF2-40B4-BE49-F238E27FC236}">
                <a16:creationId xmlns:a16="http://schemas.microsoft.com/office/drawing/2014/main" id="{D663125C-BDB3-D499-E440-DC1AC9FEBF6C}"/>
              </a:ext>
            </a:extLst>
          </p:cNvPr>
          <p:cNvCxnSpPr>
            <a:cxnSpLocks/>
            <a:stCxn id="73" idx="3"/>
            <a:endCxn id="93" idx="1"/>
          </p:cNvCxnSpPr>
          <p:nvPr/>
        </p:nvCxnSpPr>
        <p:spPr>
          <a:xfrm>
            <a:off x="1399032" y="4532929"/>
            <a:ext cx="676656" cy="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연결선: 꺾임 315">
            <a:extLst>
              <a:ext uri="{FF2B5EF4-FFF2-40B4-BE49-F238E27FC236}">
                <a16:creationId xmlns:a16="http://schemas.microsoft.com/office/drawing/2014/main" id="{CD152FEF-4DFB-B69A-86B9-78D8A14DD145}"/>
              </a:ext>
            </a:extLst>
          </p:cNvPr>
          <p:cNvCxnSpPr>
            <a:cxnSpLocks/>
            <a:endCxn id="112" idx="1"/>
          </p:cNvCxnSpPr>
          <p:nvPr/>
        </p:nvCxnSpPr>
        <p:spPr>
          <a:xfrm rot="16200000" flipV="1">
            <a:off x="1838973" y="3554232"/>
            <a:ext cx="5160128" cy="168081"/>
          </a:xfrm>
          <a:prstGeom prst="bentConnector4">
            <a:avLst>
              <a:gd name="adj1" fmla="val -282"/>
              <a:gd name="adj2" fmla="val 23600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직선 화살표 연결선 316">
            <a:extLst>
              <a:ext uri="{FF2B5EF4-FFF2-40B4-BE49-F238E27FC236}">
                <a16:creationId xmlns:a16="http://schemas.microsoft.com/office/drawing/2014/main" id="{A33F4136-8F42-3A67-AFC8-4B9FFB1569A5}"/>
              </a:ext>
            </a:extLst>
          </p:cNvPr>
          <p:cNvCxnSpPr>
            <a:cxnSpLocks/>
            <a:stCxn id="112" idx="2"/>
            <a:endCxn id="123" idx="0"/>
          </p:cNvCxnSpPr>
          <p:nvPr/>
        </p:nvCxnSpPr>
        <p:spPr>
          <a:xfrm>
            <a:off x="5363696" y="1446829"/>
            <a:ext cx="856" cy="1628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직선 화살표 연결선 320">
            <a:extLst>
              <a:ext uri="{FF2B5EF4-FFF2-40B4-BE49-F238E27FC236}">
                <a16:creationId xmlns:a16="http://schemas.microsoft.com/office/drawing/2014/main" id="{3B10D47C-C80B-9560-E845-6D4DCE132471}"/>
              </a:ext>
            </a:extLst>
          </p:cNvPr>
          <p:cNvCxnSpPr>
            <a:cxnSpLocks/>
            <a:stCxn id="123" idx="2"/>
            <a:endCxn id="131" idx="0"/>
          </p:cNvCxnSpPr>
          <p:nvPr/>
        </p:nvCxnSpPr>
        <p:spPr>
          <a:xfrm flipH="1">
            <a:off x="5364203" y="2889831"/>
            <a:ext cx="349" cy="33051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D50E803C-DD64-EE53-D93D-36E6CD9B7E9B}"/>
              </a:ext>
            </a:extLst>
          </p:cNvPr>
          <p:cNvCxnSpPr>
            <a:cxnSpLocks/>
            <a:stCxn id="131" idx="2"/>
            <a:endCxn id="171" idx="0"/>
          </p:cNvCxnSpPr>
          <p:nvPr/>
        </p:nvCxnSpPr>
        <p:spPr>
          <a:xfrm flipH="1">
            <a:off x="5363047" y="4134749"/>
            <a:ext cx="1156" cy="34946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연결선: 꺾임 328">
            <a:extLst>
              <a:ext uri="{FF2B5EF4-FFF2-40B4-BE49-F238E27FC236}">
                <a16:creationId xmlns:a16="http://schemas.microsoft.com/office/drawing/2014/main" id="{000D2946-3E9F-C1A9-4061-52E116258C91}"/>
              </a:ext>
            </a:extLst>
          </p:cNvPr>
          <p:cNvCxnSpPr>
            <a:cxnSpLocks/>
            <a:stCxn id="131" idx="3"/>
            <a:endCxn id="189" idx="1"/>
          </p:cNvCxnSpPr>
          <p:nvPr/>
        </p:nvCxnSpPr>
        <p:spPr>
          <a:xfrm>
            <a:off x="6484343" y="3677549"/>
            <a:ext cx="312143" cy="86434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연결선: 꺾임 331">
            <a:extLst>
              <a:ext uri="{FF2B5EF4-FFF2-40B4-BE49-F238E27FC236}">
                <a16:creationId xmlns:a16="http://schemas.microsoft.com/office/drawing/2014/main" id="{06B697E2-AC24-48A9-BCB4-7184E6CB2559}"/>
              </a:ext>
            </a:extLst>
          </p:cNvPr>
          <p:cNvCxnSpPr>
            <a:cxnSpLocks/>
            <a:stCxn id="171" idx="3"/>
            <a:endCxn id="189" idx="1"/>
          </p:cNvCxnSpPr>
          <p:nvPr/>
        </p:nvCxnSpPr>
        <p:spPr>
          <a:xfrm flipV="1">
            <a:off x="6140287" y="4541890"/>
            <a:ext cx="656199" cy="536684"/>
          </a:xfrm>
          <a:prstGeom prst="bentConnector3">
            <a:avLst>
              <a:gd name="adj1" fmla="val 76128"/>
            </a:avLst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FCFD9B64-3EDB-8BD3-6039-3C6DC3DF0B65}"/>
              </a:ext>
            </a:extLst>
          </p:cNvPr>
          <p:cNvCxnSpPr>
            <a:cxnSpLocks/>
            <a:stCxn id="189" idx="3"/>
          </p:cNvCxnSpPr>
          <p:nvPr/>
        </p:nvCxnSpPr>
        <p:spPr>
          <a:xfrm>
            <a:off x="9036766" y="4541890"/>
            <a:ext cx="197676" cy="1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직선 화살표 연결선 339">
            <a:extLst>
              <a:ext uri="{FF2B5EF4-FFF2-40B4-BE49-F238E27FC236}">
                <a16:creationId xmlns:a16="http://schemas.microsoft.com/office/drawing/2014/main" id="{24930B3B-3D7A-A4C6-9276-697D5DABA97F}"/>
              </a:ext>
            </a:extLst>
          </p:cNvPr>
          <p:cNvCxnSpPr>
            <a:cxnSpLocks/>
            <a:stCxn id="211" idx="2"/>
            <a:endCxn id="235" idx="0"/>
          </p:cNvCxnSpPr>
          <p:nvPr/>
        </p:nvCxnSpPr>
        <p:spPr>
          <a:xfrm>
            <a:off x="9897382" y="4996278"/>
            <a:ext cx="2845" cy="1636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연결선: 꺾임 343">
            <a:extLst>
              <a:ext uri="{FF2B5EF4-FFF2-40B4-BE49-F238E27FC236}">
                <a16:creationId xmlns:a16="http://schemas.microsoft.com/office/drawing/2014/main" id="{9F126AAC-8F0A-2C9C-F0EB-693BD8543CDF}"/>
              </a:ext>
            </a:extLst>
          </p:cNvPr>
          <p:cNvCxnSpPr>
            <a:cxnSpLocks/>
            <a:stCxn id="108" idx="3"/>
            <a:endCxn id="235" idx="2"/>
          </p:cNvCxnSpPr>
          <p:nvPr/>
        </p:nvCxnSpPr>
        <p:spPr>
          <a:xfrm flipV="1">
            <a:off x="6211699" y="6001131"/>
            <a:ext cx="3688528" cy="41837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직선 화살표 연결선 353">
            <a:extLst>
              <a:ext uri="{FF2B5EF4-FFF2-40B4-BE49-F238E27FC236}">
                <a16:creationId xmlns:a16="http://schemas.microsoft.com/office/drawing/2014/main" id="{F6BDD628-CECA-128A-90F5-ABC7ED0354E9}"/>
              </a:ext>
            </a:extLst>
          </p:cNvPr>
          <p:cNvCxnSpPr>
            <a:cxnSpLocks/>
            <a:stCxn id="77" idx="2"/>
            <a:endCxn id="105" idx="0"/>
          </p:cNvCxnSpPr>
          <p:nvPr/>
        </p:nvCxnSpPr>
        <p:spPr>
          <a:xfrm>
            <a:off x="2903220" y="5257800"/>
            <a:ext cx="6650" cy="685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54</Words>
  <Application>Microsoft Office PowerPoint</Application>
  <PresentationFormat>사용자 지정</PresentationFormat>
  <Paragraphs>43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Theme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KARINA Overall Architecture</dc:title>
  <dc:subject>KARINA Architecture Diagram</dc:subject>
  <dc:creator>OpenAI</dc:creator>
  <cp:lastModifiedBy>sungshin Kwak</cp:lastModifiedBy>
  <cp:revision>2</cp:revision>
  <dcterms:created xsi:type="dcterms:W3CDTF">2026-08-09T13:28:46Z</dcterms:created>
  <dcterms:modified xsi:type="dcterms:W3CDTF">2026-08-09T18:51:18Z</dcterms:modified>
</cp:coreProperties>
</file>